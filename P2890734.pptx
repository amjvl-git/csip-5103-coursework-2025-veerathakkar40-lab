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178a95d3c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The comparison will be done in order to compare their performance, accuracy and recognition of visually similar fashion items.</a:t>
            </a:r>
            <a:endParaRPr>
              <a:latin typeface="Times New Roman"/>
              <a:ea typeface="Times New Roman"/>
              <a:cs typeface="Times New Roman"/>
              <a:sym typeface="Times New Roman"/>
            </a:endParaRPr>
          </a:p>
        </p:txBody>
      </p:sp>
      <p:sp>
        <p:nvSpPr>
          <p:cNvPr id="99" name="Google Shape;99;g37178a95d3c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b976f0fa3_0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As described in the slide, the general objectives of the project are the development and comparison of ANN and CNN models, the evaluation of the performance of the models, and recommendations on how to improve the performance in order to realise the high accuracy and reliability of classification.</a:t>
            </a:r>
            <a:endParaRPr>
              <a:latin typeface="Times New Roman"/>
              <a:ea typeface="Times New Roman"/>
              <a:cs typeface="Times New Roman"/>
              <a:sym typeface="Times New Roman"/>
            </a:endParaRPr>
          </a:p>
        </p:txBody>
      </p:sp>
      <p:sp>
        <p:nvSpPr>
          <p:cNvPr id="105" name="Google Shape;105;g37b976f0fa3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b976f0fa3_0_1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The slide has identified the model building process, including data preprocessing, ANN and CNN training on the basis of PyTorch and analysis of performance on the basis of the accuracy and loss, as well as the confusion matrix.</a:t>
            </a:r>
            <a:endParaRPr>
              <a:latin typeface="Times New Roman"/>
              <a:ea typeface="Times New Roman"/>
              <a:cs typeface="Times New Roman"/>
              <a:sym typeface="Times New Roman"/>
            </a:endParaRPr>
          </a:p>
        </p:txBody>
      </p:sp>
      <p:sp>
        <p:nvSpPr>
          <p:cNvPr id="111" name="Google Shape;111;g37b976f0fa3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b976f0fa3_0_1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The slide mentions the dataset and the materials along with Fashion-MNIST images, measures taken in preprocessing such as normalization and reshaping images and other parameters such as batch size, learning rate and image dimensions adjusted to the standard size of images to run the model uniformly.</a:t>
            </a:r>
            <a:endParaRPr>
              <a:latin typeface="Times New Roman"/>
              <a:ea typeface="Times New Roman"/>
              <a:cs typeface="Times New Roman"/>
              <a:sym typeface="Times New Roman"/>
            </a:endParaRPr>
          </a:p>
        </p:txBody>
      </p:sp>
      <p:sp>
        <p:nvSpPr>
          <p:cNvPr id="118" name="Google Shape;118;g37b976f0fa3_0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b976f0fa3_0_2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The CrossEntropyLoss function was selected as it is effective due to its multi-classification issues, as it compares the differences between the actual outcomes and the estimated outcomes via the prediction of probabilities.</a:t>
            </a:r>
            <a:endParaRPr>
              <a:latin typeface="Times New Roman"/>
              <a:ea typeface="Times New Roman"/>
              <a:cs typeface="Times New Roman"/>
              <a:sym typeface="Times New Roman"/>
            </a:endParaRPr>
          </a:p>
        </p:txBody>
      </p:sp>
      <p:sp>
        <p:nvSpPr>
          <p:cNvPr id="124" name="Google Shape;124;g37b976f0fa3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b976f0fa3_0_2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CNN had less confusion than the ANN, with lower misclassification rates of Shirt → Coat (5.2%), Shirt → Pullover (3.8%), and Pullover → Coat (4.6%), which meant that better visual features were extracted.</a:t>
            </a:r>
            <a:endParaRPr>
              <a:latin typeface="Times New Roman"/>
              <a:ea typeface="Times New Roman"/>
              <a:cs typeface="Times New Roman"/>
              <a:sym typeface="Times New Roman"/>
            </a:endParaRPr>
          </a:p>
        </p:txBody>
      </p:sp>
      <p:sp>
        <p:nvSpPr>
          <p:cNvPr id="134" name="Google Shape;134;g37b976f0fa3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b976f0fa3_0_2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The slide has outlined major findings, the greater precision of CNN, the confusion in the similar classes and the effective training of the model under optimisation and regularisation of the model.</a:t>
            </a:r>
            <a:endParaRPr>
              <a:latin typeface="Times New Roman"/>
              <a:ea typeface="Times New Roman"/>
              <a:cs typeface="Times New Roman"/>
              <a:sym typeface="Times New Roman"/>
            </a:endParaRPr>
          </a:p>
        </p:txBody>
      </p:sp>
      <p:sp>
        <p:nvSpPr>
          <p:cNvPr id="144" name="Google Shape;144;g37b976f0fa3_0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7b976f0fa3_0_2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The slide has explained the general findings, which were the overall summary of the model performance, the overall effectiveness of CNN, and the reaffirmation of the success of the project towards using neural networks to accomplish successful image classification of fashion images.</a:t>
            </a:r>
            <a:endParaRPr>
              <a:latin typeface="Times New Roman"/>
              <a:ea typeface="Times New Roman"/>
              <a:cs typeface="Times New Roman"/>
              <a:sym typeface="Times New Roman"/>
            </a:endParaRPr>
          </a:p>
        </p:txBody>
      </p:sp>
      <p:sp>
        <p:nvSpPr>
          <p:cNvPr id="150" name="Google Shape;150;g37b976f0fa3_0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b976f0fa3_0_2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The potential work improvement ideas have been outlined in the slide regarding the future data augmentation and model tuning, and the fundamental resources and tools that enabled the creation of this project.</a:t>
            </a:r>
            <a:endParaRPr>
              <a:latin typeface="Times New Roman"/>
              <a:ea typeface="Times New Roman"/>
              <a:cs typeface="Times New Roman"/>
              <a:sym typeface="Times New Roman"/>
            </a:endParaRPr>
          </a:p>
        </p:txBody>
      </p:sp>
      <p:sp>
        <p:nvSpPr>
          <p:cNvPr id="156" name="Google Shape;156;g37b976f0fa3_0_2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7178a95d3c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2" name="Google Shape;162;g37178a95d3c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9eeb5327e1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8" name="Google Shape;168;g29eeb5327e1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2"/>
          <p:cNvSpPr txBox="1"/>
          <p:nvPr>
            <p:ph type="ctrTitle"/>
          </p:nvPr>
        </p:nvSpPr>
        <p:spPr>
          <a:xfrm>
            <a:off x="601670" y="739290"/>
            <a:ext cx="6398640" cy="1374345"/>
          </a:xfrm>
          <a:prstGeom prst="rect">
            <a:avLst/>
          </a:prstGeom>
          <a:noFill/>
          <a:ln>
            <a:noFill/>
          </a:ln>
          <a:effectLst>
            <a:outerShdw blurRad="50800" rotWithShape="0" algn="tl" dir="2700000" dist="38100">
              <a:srgbClr val="000000">
                <a:alpha val="40000"/>
              </a:srgbClr>
            </a:outerShdw>
          </a:effectLst>
        </p:spPr>
        <p:txBody>
          <a:bodyPr anchorCtr="0" anchor="ctr" bIns="45700" lIns="91425" spcFirstLastPara="1" rIns="91425" wrap="square" tIns="45700">
            <a:normAutofit/>
          </a:bodyPr>
          <a:lstStyle>
            <a:lvl1pPr lvl="0" algn="l">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601670" y="2371514"/>
            <a:ext cx="6398640" cy="610820"/>
          </a:xfrm>
          <a:prstGeom prst="rect">
            <a:avLst/>
          </a:prstGeom>
          <a:noFill/>
          <a:ln>
            <a:noFill/>
          </a:ln>
        </p:spPr>
        <p:txBody>
          <a:bodyPr anchorCtr="0" anchor="t" bIns="45700" lIns="91425" spcFirstLastPara="1" rIns="91425" wrap="square" tIns="45700">
            <a:normAutofit/>
          </a:bodyPr>
          <a:lstStyle>
            <a:lvl1pPr lvl="0" algn="l">
              <a:spcBef>
                <a:spcPts val="560"/>
              </a:spcBef>
              <a:spcAft>
                <a:spcPts val="0"/>
              </a:spcAft>
              <a:buClr>
                <a:srgbClr val="FFC000"/>
              </a:buClr>
              <a:buSzPts val="2800"/>
              <a:buNone/>
              <a:defRPr b="0" i="0" sz="2800">
                <a:solidFill>
                  <a:srgbClr val="FFC000"/>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440730" y="0"/>
            <a:ext cx="8246070" cy="104285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C000"/>
              </a:buClr>
              <a:buSzPts val="3600"/>
              <a:buFont typeface="Calibri"/>
              <a:buNone/>
              <a:defRPr sz="3600">
                <a:solidFill>
                  <a:srgbClr val="FFC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448966" y="1350110"/>
            <a:ext cx="8246070" cy="3359508"/>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244061"/>
              </a:buClr>
              <a:buSzPts val="2800"/>
              <a:buChar char="•"/>
              <a:defRPr sz="2800">
                <a:solidFill>
                  <a:srgbClr val="244061"/>
                </a:solidFill>
              </a:defRPr>
            </a:lvl1pPr>
            <a:lvl2pPr indent="-406400" lvl="1" marL="914400" algn="l">
              <a:spcBef>
                <a:spcPts val="560"/>
              </a:spcBef>
              <a:spcAft>
                <a:spcPts val="0"/>
              </a:spcAft>
              <a:buClr>
                <a:srgbClr val="244061"/>
              </a:buClr>
              <a:buSzPts val="2800"/>
              <a:buChar char="–"/>
              <a:defRPr>
                <a:solidFill>
                  <a:srgbClr val="244061"/>
                </a:solidFill>
              </a:defRPr>
            </a:lvl2pPr>
            <a:lvl3pPr indent="-381000" lvl="2" marL="1371600" algn="l">
              <a:spcBef>
                <a:spcPts val="480"/>
              </a:spcBef>
              <a:spcAft>
                <a:spcPts val="0"/>
              </a:spcAft>
              <a:buClr>
                <a:srgbClr val="244061"/>
              </a:buClr>
              <a:buSzPts val="2400"/>
              <a:buChar char="•"/>
              <a:defRPr>
                <a:solidFill>
                  <a:srgbClr val="244061"/>
                </a:solidFill>
              </a:defRPr>
            </a:lvl3pPr>
            <a:lvl4pPr indent="-355600" lvl="3" marL="1828800" algn="l">
              <a:spcBef>
                <a:spcPts val="400"/>
              </a:spcBef>
              <a:spcAft>
                <a:spcPts val="0"/>
              </a:spcAft>
              <a:buClr>
                <a:srgbClr val="244061"/>
              </a:buClr>
              <a:buSzPts val="2000"/>
              <a:buChar char="–"/>
              <a:defRPr>
                <a:solidFill>
                  <a:srgbClr val="244061"/>
                </a:solidFill>
              </a:defRPr>
            </a:lvl4pPr>
            <a:lvl5pPr indent="-355600" lvl="4" marL="2286000" algn="l">
              <a:spcBef>
                <a:spcPts val="400"/>
              </a:spcBef>
              <a:spcAft>
                <a:spcPts val="0"/>
              </a:spcAft>
              <a:buClr>
                <a:srgbClr val="244061"/>
              </a:buClr>
              <a:buSzPts val="2000"/>
              <a:buChar char="»"/>
              <a:defRPr>
                <a:solidFill>
                  <a:srgbClr val="24406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4"/>
          <p:cNvSpPr txBox="1"/>
          <p:nvPr>
            <p:ph type="title"/>
          </p:nvPr>
        </p:nvSpPr>
        <p:spPr>
          <a:xfrm>
            <a:off x="473712" y="365226"/>
            <a:ext cx="6274062" cy="7635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C000"/>
              </a:buClr>
              <a:buSzPts val="3600"/>
              <a:buFont typeface="Calibri"/>
              <a:buNone/>
              <a:defRPr sz="3600">
                <a:solidFill>
                  <a:srgbClr val="FFC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473712" y="1267213"/>
            <a:ext cx="6252670" cy="3511061"/>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lt1"/>
              </a:buClr>
              <a:buSzPts val="2800"/>
              <a:buChar char="•"/>
              <a:defRPr sz="2800">
                <a:solidFill>
                  <a:schemeClr val="lt1"/>
                </a:solidFill>
              </a:defRPr>
            </a:lvl1pPr>
            <a:lvl2pPr indent="-406400" lvl="1" marL="914400" algn="l">
              <a:spcBef>
                <a:spcPts val="560"/>
              </a:spcBef>
              <a:spcAft>
                <a:spcPts val="0"/>
              </a:spcAft>
              <a:buClr>
                <a:schemeClr val="lt1"/>
              </a:buClr>
              <a:buSzPts val="2800"/>
              <a:buChar char="–"/>
              <a:defRPr>
                <a:solidFill>
                  <a:schemeClr val="lt1"/>
                </a:solidFill>
              </a:defRPr>
            </a:lvl2pPr>
            <a:lvl3pPr indent="-381000" lvl="2" marL="1371600" algn="l">
              <a:spcBef>
                <a:spcPts val="480"/>
              </a:spcBef>
              <a:spcAft>
                <a:spcPts val="0"/>
              </a:spcAft>
              <a:buClr>
                <a:schemeClr val="lt1"/>
              </a:buClr>
              <a:buSzPts val="2400"/>
              <a:buChar char="•"/>
              <a:defRPr>
                <a:solidFill>
                  <a:schemeClr val="lt1"/>
                </a:solidFill>
              </a:defRPr>
            </a:lvl3pPr>
            <a:lvl4pPr indent="-355600" lvl="3" marL="1828800" algn="l">
              <a:spcBef>
                <a:spcPts val="400"/>
              </a:spcBef>
              <a:spcAft>
                <a:spcPts val="0"/>
              </a:spcAft>
              <a:buClr>
                <a:schemeClr val="lt1"/>
              </a:buClr>
              <a:buSzPts val="2000"/>
              <a:buChar char="–"/>
              <a:defRPr>
                <a:solidFill>
                  <a:schemeClr val="lt1"/>
                </a:solidFill>
              </a:defRPr>
            </a:lvl4pPr>
            <a:lvl5pPr indent="-355600" lvl="4" marL="2286000" algn="l">
              <a:spcBef>
                <a:spcPts val="400"/>
              </a:spcBef>
              <a:spcAft>
                <a:spcPts val="0"/>
              </a:spcAft>
              <a:buClr>
                <a:schemeClr val="lt1"/>
              </a:buClr>
              <a:buSzPts val="2000"/>
              <a:buChar char="»"/>
              <a:defRPr>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7" name="Google Shape;37;p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6"/>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7"/>
          <p:cNvSpPr txBox="1"/>
          <p:nvPr>
            <p:ph type="title"/>
          </p:nvPr>
        </p:nvSpPr>
        <p:spPr>
          <a:xfrm>
            <a:off x="536879" y="0"/>
            <a:ext cx="8076896" cy="106893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C000"/>
              </a:buClr>
              <a:buSzPts val="3600"/>
              <a:buFont typeface="Calibri"/>
              <a:buNone/>
              <a:defRPr sz="3600">
                <a:solidFill>
                  <a:srgbClr val="FFC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1" type="body"/>
          </p:nvPr>
        </p:nvSpPr>
        <p:spPr>
          <a:xfrm>
            <a:off x="536879" y="1655520"/>
            <a:ext cx="4040188" cy="479822"/>
          </a:xfrm>
          <a:prstGeom prst="rect">
            <a:avLst/>
          </a:prstGeom>
          <a:noFill/>
          <a:ln>
            <a:noFill/>
          </a:ln>
        </p:spPr>
        <p:txBody>
          <a:bodyPr anchorCtr="0" anchor="b" bIns="45700" lIns="91425" spcFirstLastPara="1" rIns="91425" wrap="square" tIns="45700">
            <a:normAutofit/>
          </a:bodyPr>
          <a:lstStyle>
            <a:lvl1pPr indent="-228600" lvl="0" marL="457200" algn="ctr">
              <a:spcBef>
                <a:spcPts val="480"/>
              </a:spcBef>
              <a:spcAft>
                <a:spcPts val="0"/>
              </a:spcAft>
              <a:buClr>
                <a:srgbClr val="244061"/>
              </a:buClr>
              <a:buSzPts val="2400"/>
              <a:buNone/>
              <a:defRPr b="1" sz="2400">
                <a:solidFill>
                  <a:srgbClr val="244061"/>
                </a:solidFil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7"/>
          <p:cNvSpPr txBox="1"/>
          <p:nvPr>
            <p:ph idx="2" type="body"/>
          </p:nvPr>
        </p:nvSpPr>
        <p:spPr>
          <a:xfrm>
            <a:off x="536879" y="2127917"/>
            <a:ext cx="4040188" cy="2276294"/>
          </a:xfrm>
          <a:prstGeom prst="rect">
            <a:avLst/>
          </a:prstGeom>
          <a:noFill/>
          <a:ln>
            <a:noFill/>
          </a:ln>
        </p:spPr>
        <p:txBody>
          <a:bodyPr anchorCtr="0" anchor="t" bIns="45700" lIns="91425" spcFirstLastPara="1" rIns="91425" wrap="square" tIns="45700">
            <a:normAutofit/>
          </a:bodyPr>
          <a:lstStyle>
            <a:lvl1pPr indent="-381000" lvl="0" marL="457200" algn="ctr">
              <a:spcBef>
                <a:spcPts val="480"/>
              </a:spcBef>
              <a:spcAft>
                <a:spcPts val="0"/>
              </a:spcAft>
              <a:buClr>
                <a:srgbClr val="244061"/>
              </a:buClr>
              <a:buSzPts val="2400"/>
              <a:buChar char="•"/>
              <a:defRPr sz="2400">
                <a:solidFill>
                  <a:srgbClr val="244061"/>
                </a:solidFill>
              </a:defRPr>
            </a:lvl1pPr>
            <a:lvl2pPr indent="-355600" lvl="1" marL="914400" algn="ctr">
              <a:spcBef>
                <a:spcPts val="400"/>
              </a:spcBef>
              <a:spcAft>
                <a:spcPts val="0"/>
              </a:spcAft>
              <a:buClr>
                <a:srgbClr val="244061"/>
              </a:buClr>
              <a:buSzPts val="2000"/>
              <a:buChar char="–"/>
              <a:defRPr sz="2000">
                <a:solidFill>
                  <a:srgbClr val="244061"/>
                </a:solidFill>
              </a:defRPr>
            </a:lvl2pPr>
            <a:lvl3pPr indent="-342900" lvl="2" marL="1371600" algn="ctr">
              <a:spcBef>
                <a:spcPts val="360"/>
              </a:spcBef>
              <a:spcAft>
                <a:spcPts val="0"/>
              </a:spcAft>
              <a:buClr>
                <a:srgbClr val="244061"/>
              </a:buClr>
              <a:buSzPts val="1800"/>
              <a:buChar char="•"/>
              <a:defRPr sz="1800">
                <a:solidFill>
                  <a:srgbClr val="244061"/>
                </a:solidFill>
              </a:defRPr>
            </a:lvl3pPr>
            <a:lvl4pPr indent="-330200" lvl="3" marL="1828800" algn="ctr">
              <a:spcBef>
                <a:spcPts val="320"/>
              </a:spcBef>
              <a:spcAft>
                <a:spcPts val="0"/>
              </a:spcAft>
              <a:buClr>
                <a:srgbClr val="244061"/>
              </a:buClr>
              <a:buSzPts val="1600"/>
              <a:buChar char="–"/>
              <a:defRPr sz="1600">
                <a:solidFill>
                  <a:srgbClr val="244061"/>
                </a:solidFill>
              </a:defRPr>
            </a:lvl4pPr>
            <a:lvl5pPr indent="-330200" lvl="4" marL="2286000" algn="ctr">
              <a:spcBef>
                <a:spcPts val="320"/>
              </a:spcBef>
              <a:spcAft>
                <a:spcPts val="0"/>
              </a:spcAft>
              <a:buClr>
                <a:srgbClr val="244061"/>
              </a:buClr>
              <a:buSzPts val="1600"/>
              <a:buChar char="»"/>
              <a:defRPr sz="1600">
                <a:solidFill>
                  <a:srgbClr val="244061"/>
                </a:solidFil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7"/>
          <p:cNvSpPr txBox="1"/>
          <p:nvPr>
            <p:ph idx="3" type="body"/>
          </p:nvPr>
        </p:nvSpPr>
        <p:spPr>
          <a:xfrm>
            <a:off x="4572000" y="1655520"/>
            <a:ext cx="4041775" cy="479822"/>
          </a:xfrm>
          <a:prstGeom prst="rect">
            <a:avLst/>
          </a:prstGeom>
          <a:noFill/>
          <a:ln>
            <a:noFill/>
          </a:ln>
        </p:spPr>
        <p:txBody>
          <a:bodyPr anchorCtr="0" anchor="b" bIns="45700" lIns="91425" spcFirstLastPara="1" rIns="91425" wrap="square" tIns="45700">
            <a:normAutofit/>
          </a:bodyPr>
          <a:lstStyle>
            <a:lvl1pPr indent="-228600" lvl="0" marL="457200" algn="ctr">
              <a:spcBef>
                <a:spcPts val="480"/>
              </a:spcBef>
              <a:spcAft>
                <a:spcPts val="0"/>
              </a:spcAft>
              <a:buClr>
                <a:srgbClr val="244061"/>
              </a:buClr>
              <a:buSzPts val="2400"/>
              <a:buNone/>
              <a:defRPr b="1" sz="2400">
                <a:solidFill>
                  <a:srgbClr val="244061"/>
                </a:solidFil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7"/>
          <p:cNvSpPr txBox="1"/>
          <p:nvPr>
            <p:ph idx="4" type="body"/>
          </p:nvPr>
        </p:nvSpPr>
        <p:spPr>
          <a:xfrm>
            <a:off x="4572000" y="2127917"/>
            <a:ext cx="4041775" cy="2276294"/>
          </a:xfrm>
          <a:prstGeom prst="rect">
            <a:avLst/>
          </a:prstGeom>
          <a:noFill/>
          <a:ln>
            <a:noFill/>
          </a:ln>
        </p:spPr>
        <p:txBody>
          <a:bodyPr anchorCtr="0" anchor="t" bIns="45700" lIns="91425" spcFirstLastPara="1" rIns="91425" wrap="square" tIns="45700">
            <a:normAutofit/>
          </a:bodyPr>
          <a:lstStyle>
            <a:lvl1pPr indent="-381000" lvl="0" marL="457200" algn="ctr">
              <a:spcBef>
                <a:spcPts val="480"/>
              </a:spcBef>
              <a:spcAft>
                <a:spcPts val="0"/>
              </a:spcAft>
              <a:buClr>
                <a:srgbClr val="244061"/>
              </a:buClr>
              <a:buSzPts val="2400"/>
              <a:buChar char="•"/>
              <a:defRPr sz="2400">
                <a:solidFill>
                  <a:srgbClr val="244061"/>
                </a:solidFill>
              </a:defRPr>
            </a:lvl1pPr>
            <a:lvl2pPr indent="-355600" lvl="1" marL="914400" algn="ctr">
              <a:spcBef>
                <a:spcPts val="400"/>
              </a:spcBef>
              <a:spcAft>
                <a:spcPts val="0"/>
              </a:spcAft>
              <a:buClr>
                <a:srgbClr val="244061"/>
              </a:buClr>
              <a:buSzPts val="2000"/>
              <a:buChar char="–"/>
              <a:defRPr sz="2000">
                <a:solidFill>
                  <a:srgbClr val="244061"/>
                </a:solidFill>
              </a:defRPr>
            </a:lvl2pPr>
            <a:lvl3pPr indent="-342900" lvl="2" marL="1371600" algn="ctr">
              <a:spcBef>
                <a:spcPts val="360"/>
              </a:spcBef>
              <a:spcAft>
                <a:spcPts val="0"/>
              </a:spcAft>
              <a:buClr>
                <a:srgbClr val="244061"/>
              </a:buClr>
              <a:buSzPts val="1800"/>
              <a:buChar char="•"/>
              <a:defRPr sz="1800">
                <a:solidFill>
                  <a:srgbClr val="244061"/>
                </a:solidFill>
              </a:defRPr>
            </a:lvl3pPr>
            <a:lvl4pPr indent="-330200" lvl="3" marL="1828800" algn="ctr">
              <a:spcBef>
                <a:spcPts val="320"/>
              </a:spcBef>
              <a:spcAft>
                <a:spcPts val="0"/>
              </a:spcAft>
              <a:buClr>
                <a:srgbClr val="244061"/>
              </a:buClr>
              <a:buSzPts val="1600"/>
              <a:buChar char="–"/>
              <a:defRPr sz="1600">
                <a:solidFill>
                  <a:srgbClr val="244061"/>
                </a:solidFill>
              </a:defRPr>
            </a:lvl4pPr>
            <a:lvl5pPr indent="-330200" lvl="4" marL="2286000" algn="ctr">
              <a:spcBef>
                <a:spcPts val="320"/>
              </a:spcBef>
              <a:spcAft>
                <a:spcPts val="0"/>
              </a:spcAft>
              <a:buClr>
                <a:srgbClr val="244061"/>
              </a:buClr>
              <a:buSzPts val="1600"/>
              <a:buChar char="»"/>
              <a:defRPr sz="1600">
                <a:solidFill>
                  <a:srgbClr val="244061"/>
                </a:solidFil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10"/>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1"/>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p:nvPr>
            <p:ph idx="2" type="pic"/>
          </p:nvPr>
        </p:nvSpPr>
        <p:spPr>
          <a:xfrm>
            <a:off x="1792288" y="459581"/>
            <a:ext cx="5486400" cy="3086100"/>
          </a:xfrm>
          <a:prstGeom prst="rect">
            <a:avLst/>
          </a:prstGeom>
          <a:noFill/>
          <a:ln>
            <a:noFill/>
          </a:ln>
        </p:spPr>
      </p:sp>
      <p:sp>
        <p:nvSpPr>
          <p:cNvPr id="75" name="Google Shape;75;p11"/>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6" name="Google Shape;76;p1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2"/>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1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13"/>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3"/>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E:\websites\free-power-point-templates\2012\logos.png" id="91" name="Google Shape;91;p13"/>
          <p:cNvPicPr preferRelativeResize="0"/>
          <p:nvPr/>
        </p:nvPicPr>
        <p:blipFill rotWithShape="1">
          <a:blip r:embed="rId2">
            <a:alphaModFix/>
          </a:blip>
          <a:srcRect b="0" l="0" r="0" t="0"/>
          <a:stretch/>
        </p:blipFill>
        <p:spPr>
          <a:xfrm>
            <a:off x="3808475" y="2326213"/>
            <a:ext cx="1463784" cy="52696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txBox="1"/>
          <p:nvPr/>
        </p:nvSpPr>
        <p:spPr>
          <a:xfrm>
            <a:off x="-9150" y="5213747"/>
            <a:ext cx="838962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A5A5A5"/>
                </a:solidFill>
                <a:latin typeface="Calibri"/>
                <a:ea typeface="Calibri"/>
                <a:cs typeface="Calibri"/>
                <a:sym typeface="Calibri"/>
              </a:rPr>
              <a:t>This presentation uses a free template provided by FPPT.com</a:t>
            </a:r>
            <a:endParaRPr/>
          </a:p>
          <a:p>
            <a:pPr indent="0" lvl="0" marL="0" marR="0" rtl="0" algn="l">
              <a:spcBef>
                <a:spcPts val="0"/>
              </a:spcBef>
              <a:spcAft>
                <a:spcPts val="0"/>
              </a:spcAft>
              <a:buNone/>
            </a:pPr>
            <a:r>
              <a:rPr lang="en-US" sz="1400">
                <a:solidFill>
                  <a:srgbClr val="A5A5A5"/>
                </a:solidFill>
                <a:latin typeface="Calibri"/>
                <a:ea typeface="Calibri"/>
                <a:cs typeface="Calibri"/>
                <a:sym typeface="Calibri"/>
              </a:rPr>
              <a:t>www.free-power-point-templates.com</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ctrTitle"/>
          </p:nvPr>
        </p:nvSpPr>
        <p:spPr>
          <a:xfrm>
            <a:off x="199795" y="1508825"/>
            <a:ext cx="6398700" cy="1832400"/>
          </a:xfrm>
          <a:prstGeom prst="rect">
            <a:avLst/>
          </a:prstGeom>
          <a:no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240"/>
              <a:buFont typeface="Times New Roman"/>
              <a:buNone/>
            </a:pPr>
            <a:r>
              <a:rPr b="1" lang="en-US" sz="3040">
                <a:latin typeface="Arial"/>
                <a:ea typeface="Arial"/>
                <a:cs typeface="Arial"/>
                <a:sym typeface="Arial"/>
              </a:rPr>
              <a:t>Fashion-MNIST Classification</a:t>
            </a:r>
            <a:endParaRPr b="1" sz="304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448966" y="0"/>
            <a:ext cx="8246100" cy="1042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600">
                <a:latin typeface="Arial"/>
                <a:ea typeface="Arial"/>
                <a:cs typeface="Arial"/>
                <a:sym typeface="Arial"/>
              </a:rPr>
              <a:t>Introduction</a:t>
            </a:r>
            <a:endParaRPr b="1" sz="2600">
              <a:latin typeface="Arial"/>
              <a:ea typeface="Arial"/>
              <a:cs typeface="Arial"/>
              <a:sym typeface="Arial"/>
            </a:endParaRPr>
          </a:p>
        </p:txBody>
      </p:sp>
      <p:sp>
        <p:nvSpPr>
          <p:cNvPr id="102" name="Google Shape;102;p15"/>
          <p:cNvSpPr txBox="1"/>
          <p:nvPr>
            <p:ph idx="1" type="body"/>
          </p:nvPr>
        </p:nvSpPr>
        <p:spPr>
          <a:xfrm>
            <a:off x="132250" y="1175075"/>
            <a:ext cx="8331600" cy="3689100"/>
          </a:xfrm>
          <a:prstGeom prst="rect">
            <a:avLst/>
          </a:prstGeom>
          <a:noFill/>
          <a:ln>
            <a:noFill/>
          </a:ln>
        </p:spPr>
        <p:txBody>
          <a:bodyPr anchorCtr="0" anchor="t" bIns="45700" lIns="91425" spcFirstLastPara="1" rIns="91425" wrap="square" tIns="45700">
            <a:noAutofit/>
          </a:bodyPr>
          <a:lstStyle/>
          <a:p>
            <a:pPr indent="-355600" lvl="0" marL="457200" rtl="0" algn="just">
              <a:lnSpc>
                <a:spcPct val="10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task on which the current project is built is the classification of the pictures of the Fashion-MNIST dataset under ten categories of shirts, coats and sneakers, among others. </a:t>
            </a:r>
            <a:endParaRPr sz="2000">
              <a:solidFill>
                <a:schemeClr val="dk1"/>
              </a:solidFill>
              <a:latin typeface="Times New Roman"/>
              <a:ea typeface="Times New Roman"/>
              <a:cs typeface="Times New Roman"/>
              <a:sym typeface="Times New Roman"/>
            </a:endParaRPr>
          </a:p>
          <a:p>
            <a:pPr indent="-355600" lvl="0" marL="457200" rtl="0" algn="just">
              <a:lnSpc>
                <a:spcPct val="10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purpose of this is to develop, train, and test two deep learning networks: (ANN) Artificial Neural Network and (CNN) Convolutional Neural Network, both written in PyTorch.</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448975" y="0"/>
            <a:ext cx="8618400" cy="1042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377">
                <a:latin typeface="Times New Roman"/>
                <a:ea typeface="Times New Roman"/>
                <a:cs typeface="Times New Roman"/>
                <a:sym typeface="Times New Roman"/>
              </a:rPr>
              <a:t>Objectives / Goals</a:t>
            </a:r>
            <a:endParaRPr b="1" i="1" sz="2155">
              <a:latin typeface="Times New Roman"/>
              <a:ea typeface="Times New Roman"/>
              <a:cs typeface="Times New Roman"/>
              <a:sym typeface="Times New Roman"/>
            </a:endParaRPr>
          </a:p>
        </p:txBody>
      </p:sp>
      <p:sp>
        <p:nvSpPr>
          <p:cNvPr id="108" name="Google Shape;108;p16"/>
          <p:cNvSpPr txBox="1"/>
          <p:nvPr>
            <p:ph idx="1" type="body"/>
          </p:nvPr>
        </p:nvSpPr>
        <p:spPr>
          <a:xfrm>
            <a:off x="507100" y="1235425"/>
            <a:ext cx="8017800" cy="3689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1900">
                <a:solidFill>
                  <a:schemeClr val="dk1"/>
                </a:solidFill>
                <a:latin typeface="Times New Roman"/>
                <a:ea typeface="Times New Roman"/>
                <a:cs typeface="Times New Roman"/>
                <a:sym typeface="Times New Roman"/>
              </a:rPr>
              <a:t>●	To create and compare a model of Artificial Neural Network (ANN) and Convolutional Neural Network (CNN) with the topic of Fashion-MNIST image classification.</a:t>
            </a:r>
            <a:endParaRPr sz="19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900">
                <a:solidFill>
                  <a:schemeClr val="dk1"/>
                </a:solidFill>
                <a:latin typeface="Times New Roman"/>
                <a:ea typeface="Times New Roman"/>
                <a:cs typeface="Times New Roman"/>
                <a:sym typeface="Times New Roman"/>
              </a:rPr>
              <a:t>●	To evaluate the performance of the models using the measurements of accuracy, loss and confusion matrix.</a:t>
            </a:r>
            <a:endParaRPr sz="19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900">
                <a:solidFill>
                  <a:schemeClr val="dk1"/>
                </a:solidFill>
                <a:latin typeface="Times New Roman"/>
                <a:ea typeface="Times New Roman"/>
                <a:cs typeface="Times New Roman"/>
                <a:sym typeface="Times New Roman"/>
              </a:rPr>
              <a:t>To identify the challenges and suggest a method of making the model more accurate and generalised.</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448975" y="0"/>
            <a:ext cx="8618400" cy="1042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377">
                <a:latin typeface="Times New Roman"/>
                <a:ea typeface="Times New Roman"/>
                <a:cs typeface="Times New Roman"/>
                <a:sym typeface="Times New Roman"/>
              </a:rPr>
              <a:t>Methodology / Approach</a:t>
            </a:r>
            <a:endParaRPr b="1" i="1" sz="2155">
              <a:latin typeface="Times New Roman"/>
              <a:ea typeface="Times New Roman"/>
              <a:cs typeface="Times New Roman"/>
              <a:sym typeface="Times New Roman"/>
            </a:endParaRPr>
          </a:p>
        </p:txBody>
      </p:sp>
      <p:sp>
        <p:nvSpPr>
          <p:cNvPr id="114" name="Google Shape;114;p17"/>
          <p:cNvSpPr txBox="1"/>
          <p:nvPr>
            <p:ph idx="1" type="body"/>
          </p:nvPr>
        </p:nvSpPr>
        <p:spPr>
          <a:xfrm>
            <a:off x="132250" y="1175075"/>
            <a:ext cx="5599200" cy="3689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Basic ANN and CNN algorithms in PyTorch in Fashion-MNIST image recognition (Xhaferra et al. 2022).</a:t>
            </a:r>
            <a:endParaRPr sz="20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Before training, apathetic data is normalised, batched and optimised.</a:t>
            </a:r>
            <a:endParaRPr sz="20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Successfully made a comparison of the two models based on accuracy, loss curves, and confusion matrices.</a:t>
            </a:r>
            <a:endParaRPr sz="2000">
              <a:solidFill>
                <a:schemeClr val="dk1"/>
              </a:solidFill>
              <a:latin typeface="Times New Roman"/>
              <a:ea typeface="Times New Roman"/>
              <a:cs typeface="Times New Roman"/>
              <a:sym typeface="Times New Roman"/>
            </a:endParaRPr>
          </a:p>
        </p:txBody>
      </p:sp>
      <p:pic>
        <p:nvPicPr>
          <p:cNvPr id="115" name="Google Shape;115;p17"/>
          <p:cNvPicPr preferRelativeResize="0"/>
          <p:nvPr/>
        </p:nvPicPr>
        <p:blipFill>
          <a:blip r:embed="rId3">
            <a:alphaModFix/>
          </a:blip>
          <a:stretch>
            <a:fillRect/>
          </a:stretch>
        </p:blipFill>
        <p:spPr>
          <a:xfrm>
            <a:off x="5883850" y="1195200"/>
            <a:ext cx="3107750" cy="32706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448975" y="0"/>
            <a:ext cx="8618400" cy="1042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377">
                <a:latin typeface="Times New Roman"/>
                <a:ea typeface="Times New Roman"/>
                <a:cs typeface="Times New Roman"/>
                <a:sym typeface="Times New Roman"/>
              </a:rPr>
              <a:t>Data / Materials / Inputs</a:t>
            </a:r>
            <a:endParaRPr b="1" i="1" sz="2155">
              <a:latin typeface="Times New Roman"/>
              <a:ea typeface="Times New Roman"/>
              <a:cs typeface="Times New Roman"/>
              <a:sym typeface="Times New Roman"/>
            </a:endParaRPr>
          </a:p>
        </p:txBody>
      </p:sp>
      <p:sp>
        <p:nvSpPr>
          <p:cNvPr id="121" name="Google Shape;121;p18"/>
          <p:cNvSpPr txBox="1"/>
          <p:nvPr>
            <p:ph idx="1" type="body"/>
          </p:nvPr>
        </p:nvSpPr>
        <p:spPr>
          <a:xfrm>
            <a:off x="132250" y="1175075"/>
            <a:ext cx="8416200" cy="34494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The experiment was carried out on the basis of the Fashion-MNIST dataset containing 70,000 grayscale images of 10 types of clothing.</a:t>
            </a:r>
            <a:endParaRPr sz="18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ANN and CNN compatibility contain the data preprocessing and normalisation, along with reshaping.</a:t>
            </a:r>
            <a:endParaRPr sz="18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The size of the batch, learning rate, and image dimensions standardisation are some of these crucial parameters (Bbouzidi </a:t>
            </a:r>
            <a:r>
              <a:rPr i="1" lang="en-US" sz="1800">
                <a:solidFill>
                  <a:schemeClr val="dk1"/>
                </a:solidFill>
                <a:latin typeface="Times New Roman"/>
                <a:ea typeface="Times New Roman"/>
                <a:cs typeface="Times New Roman"/>
                <a:sym typeface="Times New Roman"/>
              </a:rPr>
              <a:t>et al.</a:t>
            </a:r>
            <a:r>
              <a:rPr lang="en-US" sz="1800">
                <a:solidFill>
                  <a:schemeClr val="dk1"/>
                </a:solidFill>
                <a:latin typeface="Times New Roman"/>
                <a:ea typeface="Times New Roman"/>
                <a:cs typeface="Times New Roman"/>
                <a:sym typeface="Times New Roman"/>
              </a:rPr>
              <a:t> 2024).</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132250" y="308600"/>
            <a:ext cx="8935200" cy="734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155">
                <a:latin typeface="Arial"/>
                <a:ea typeface="Arial"/>
                <a:cs typeface="Arial"/>
                <a:sym typeface="Arial"/>
              </a:rPr>
              <a:t>Implementation / Process</a:t>
            </a:r>
            <a:endParaRPr b="1" sz="2155">
              <a:latin typeface="Arial"/>
              <a:ea typeface="Arial"/>
              <a:cs typeface="Arial"/>
              <a:sym typeface="Arial"/>
            </a:endParaRPr>
          </a:p>
        </p:txBody>
      </p:sp>
      <p:sp>
        <p:nvSpPr>
          <p:cNvPr id="127" name="Google Shape;127;p19"/>
          <p:cNvSpPr txBox="1"/>
          <p:nvPr>
            <p:ph idx="1" type="body"/>
          </p:nvPr>
        </p:nvSpPr>
        <p:spPr>
          <a:xfrm>
            <a:off x="132250" y="1175075"/>
            <a:ext cx="5025900" cy="20580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ANN Optimizer: Adam (learning rate = 0.001)</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Loss Function: CrossEntropyLoss</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Epochs: 10</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Regularization: Dropout (0.2)</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CNN Optimizer: Adam (learning rate = 0.001)</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Loss Function: CrossEntropyLoss</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Epochs: 10</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Regularization: Dropout (0.25)</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	Both models have been trained with the Adam optimiser, which is based on an adaptive learning ability since it integrates the advantages of momentum and RMSProp that resulting in swifter and sounder convergence.</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pic>
        <p:nvPicPr>
          <p:cNvPr id="128" name="Google Shape;128;p19"/>
          <p:cNvPicPr preferRelativeResize="0"/>
          <p:nvPr/>
        </p:nvPicPr>
        <p:blipFill>
          <a:blip r:embed="rId3">
            <a:alphaModFix/>
          </a:blip>
          <a:stretch>
            <a:fillRect/>
          </a:stretch>
        </p:blipFill>
        <p:spPr>
          <a:xfrm>
            <a:off x="4936250" y="1114700"/>
            <a:ext cx="1716475" cy="1585150"/>
          </a:xfrm>
          <a:prstGeom prst="rect">
            <a:avLst/>
          </a:prstGeom>
          <a:noFill/>
          <a:ln>
            <a:noFill/>
          </a:ln>
        </p:spPr>
      </p:pic>
      <p:pic>
        <p:nvPicPr>
          <p:cNvPr id="129" name="Google Shape;129;p19"/>
          <p:cNvPicPr preferRelativeResize="0"/>
          <p:nvPr/>
        </p:nvPicPr>
        <p:blipFill>
          <a:blip r:embed="rId4">
            <a:alphaModFix/>
          </a:blip>
          <a:stretch>
            <a:fillRect/>
          </a:stretch>
        </p:blipFill>
        <p:spPr>
          <a:xfrm>
            <a:off x="4936250" y="2840175"/>
            <a:ext cx="1716475" cy="1434404"/>
          </a:xfrm>
          <a:prstGeom prst="rect">
            <a:avLst/>
          </a:prstGeom>
          <a:noFill/>
          <a:ln>
            <a:noFill/>
          </a:ln>
        </p:spPr>
      </p:pic>
      <p:pic>
        <p:nvPicPr>
          <p:cNvPr id="130" name="Google Shape;130;p19"/>
          <p:cNvPicPr preferRelativeResize="0"/>
          <p:nvPr/>
        </p:nvPicPr>
        <p:blipFill>
          <a:blip r:embed="rId5">
            <a:alphaModFix/>
          </a:blip>
          <a:stretch>
            <a:fillRect/>
          </a:stretch>
        </p:blipFill>
        <p:spPr>
          <a:xfrm>
            <a:off x="6998325" y="1257075"/>
            <a:ext cx="1791500" cy="1300400"/>
          </a:xfrm>
          <a:prstGeom prst="rect">
            <a:avLst/>
          </a:prstGeom>
          <a:noFill/>
          <a:ln>
            <a:noFill/>
          </a:ln>
        </p:spPr>
      </p:pic>
      <p:pic>
        <p:nvPicPr>
          <p:cNvPr id="131" name="Google Shape;131;p19"/>
          <p:cNvPicPr preferRelativeResize="0"/>
          <p:nvPr/>
        </p:nvPicPr>
        <p:blipFill>
          <a:blip r:embed="rId6">
            <a:alphaModFix/>
          </a:blip>
          <a:stretch>
            <a:fillRect/>
          </a:stretch>
        </p:blipFill>
        <p:spPr>
          <a:xfrm>
            <a:off x="6832538" y="2771850"/>
            <a:ext cx="2123068" cy="1434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132250" y="308600"/>
            <a:ext cx="8935200" cy="734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155">
                <a:latin typeface="Arial"/>
                <a:ea typeface="Arial"/>
                <a:cs typeface="Arial"/>
                <a:sym typeface="Arial"/>
              </a:rPr>
              <a:t>Results / Findings</a:t>
            </a:r>
            <a:endParaRPr b="1" sz="2155">
              <a:latin typeface="Arial"/>
              <a:ea typeface="Arial"/>
              <a:cs typeface="Arial"/>
              <a:sym typeface="Arial"/>
            </a:endParaRPr>
          </a:p>
        </p:txBody>
      </p:sp>
      <p:sp>
        <p:nvSpPr>
          <p:cNvPr id="137" name="Google Shape;137;p20"/>
          <p:cNvSpPr txBox="1"/>
          <p:nvPr>
            <p:ph idx="1" type="body"/>
          </p:nvPr>
        </p:nvSpPr>
        <p:spPr>
          <a:xfrm>
            <a:off x="132250" y="1175075"/>
            <a:ext cx="5025900" cy="20580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The ANN model had an overall accuracy of 88.01% which is decent.</a:t>
            </a:r>
            <a:endParaRPr sz="18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The confusion matrix reveals a high degree of diagonal dominance, which implies that most of the classes are highly accurate.</a:t>
            </a:r>
            <a:endParaRPr sz="18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The CNN had an accuracy of 91.43, thus scoring better than the ANN</a:t>
            </a:r>
            <a:endParaRPr sz="18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There is moderate confusion between T-shirt/top and Shirt (131) and Pullover and Coat (38) as visual similarity problems exist in some clothing types</a:t>
            </a:r>
            <a:endParaRPr sz="1800">
              <a:solidFill>
                <a:schemeClr val="dk1"/>
              </a:solidFill>
              <a:latin typeface="Times New Roman"/>
              <a:ea typeface="Times New Roman"/>
              <a:cs typeface="Times New Roman"/>
              <a:sym typeface="Times New Roman"/>
            </a:endParaRPr>
          </a:p>
        </p:txBody>
      </p:sp>
      <p:pic>
        <p:nvPicPr>
          <p:cNvPr id="138" name="Google Shape;138;p20"/>
          <p:cNvPicPr preferRelativeResize="0"/>
          <p:nvPr/>
        </p:nvPicPr>
        <p:blipFill>
          <a:blip r:embed="rId3">
            <a:alphaModFix/>
          </a:blip>
          <a:stretch>
            <a:fillRect/>
          </a:stretch>
        </p:blipFill>
        <p:spPr>
          <a:xfrm>
            <a:off x="5310550" y="1195100"/>
            <a:ext cx="1674200" cy="1316275"/>
          </a:xfrm>
          <a:prstGeom prst="rect">
            <a:avLst/>
          </a:prstGeom>
          <a:noFill/>
          <a:ln>
            <a:noFill/>
          </a:ln>
        </p:spPr>
      </p:pic>
      <p:pic>
        <p:nvPicPr>
          <p:cNvPr id="139" name="Google Shape;139;p20"/>
          <p:cNvPicPr preferRelativeResize="0"/>
          <p:nvPr/>
        </p:nvPicPr>
        <p:blipFill>
          <a:blip r:embed="rId4">
            <a:alphaModFix/>
          </a:blip>
          <a:stretch>
            <a:fillRect/>
          </a:stretch>
        </p:blipFill>
        <p:spPr>
          <a:xfrm>
            <a:off x="7186100" y="1164213"/>
            <a:ext cx="1603726" cy="1378050"/>
          </a:xfrm>
          <a:prstGeom prst="rect">
            <a:avLst/>
          </a:prstGeom>
          <a:noFill/>
          <a:ln>
            <a:noFill/>
          </a:ln>
        </p:spPr>
      </p:pic>
      <p:pic>
        <p:nvPicPr>
          <p:cNvPr id="140" name="Google Shape;140;p20"/>
          <p:cNvPicPr preferRelativeResize="0"/>
          <p:nvPr/>
        </p:nvPicPr>
        <p:blipFill>
          <a:blip r:embed="rId5">
            <a:alphaModFix/>
          </a:blip>
          <a:stretch>
            <a:fillRect/>
          </a:stretch>
        </p:blipFill>
        <p:spPr>
          <a:xfrm>
            <a:off x="5310550" y="2694669"/>
            <a:ext cx="1674200" cy="1253266"/>
          </a:xfrm>
          <a:prstGeom prst="rect">
            <a:avLst/>
          </a:prstGeom>
          <a:noFill/>
          <a:ln>
            <a:noFill/>
          </a:ln>
        </p:spPr>
      </p:pic>
      <p:pic>
        <p:nvPicPr>
          <p:cNvPr id="141" name="Google Shape;141;p20"/>
          <p:cNvPicPr preferRelativeResize="0"/>
          <p:nvPr/>
        </p:nvPicPr>
        <p:blipFill>
          <a:blip r:embed="rId6">
            <a:alphaModFix/>
          </a:blip>
          <a:stretch>
            <a:fillRect/>
          </a:stretch>
        </p:blipFill>
        <p:spPr>
          <a:xfrm>
            <a:off x="7186101" y="2663800"/>
            <a:ext cx="1603725" cy="13784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132250" y="308600"/>
            <a:ext cx="8935200" cy="734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377">
                <a:latin typeface="Arial"/>
                <a:ea typeface="Arial"/>
                <a:cs typeface="Arial"/>
                <a:sym typeface="Arial"/>
              </a:rPr>
              <a:t>Discussion / Interpretation</a:t>
            </a:r>
            <a:endParaRPr b="1" i="1" sz="2155">
              <a:latin typeface="Arial"/>
              <a:ea typeface="Arial"/>
              <a:cs typeface="Arial"/>
              <a:sym typeface="Arial"/>
            </a:endParaRPr>
          </a:p>
        </p:txBody>
      </p:sp>
      <p:sp>
        <p:nvSpPr>
          <p:cNvPr id="147" name="Google Shape;147;p21"/>
          <p:cNvSpPr txBox="1"/>
          <p:nvPr>
            <p:ph idx="1" type="body"/>
          </p:nvPr>
        </p:nvSpPr>
        <p:spPr>
          <a:xfrm>
            <a:off x="132250" y="1175075"/>
            <a:ext cx="7848600" cy="20580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Findings show that CNN has a better performance because of spatial feature extraction.</a:t>
            </a:r>
            <a:endParaRPr sz="20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Misclassifications were mostly done between similar classes, which can be seen physically, such as shirts and coats.</a:t>
            </a:r>
            <a:endParaRPr sz="20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The dropout layers and validation monitoring were used to deal with training problems like overfitting (Nocentini et al. 2022).</a:t>
            </a:r>
            <a:endParaRPr sz="20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132250" y="308600"/>
            <a:ext cx="8935200" cy="734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377">
                <a:latin typeface="Arial"/>
                <a:ea typeface="Arial"/>
                <a:cs typeface="Arial"/>
                <a:sym typeface="Arial"/>
              </a:rPr>
              <a:t>Conclusion / Summary</a:t>
            </a:r>
            <a:endParaRPr b="1" i="1" sz="2155">
              <a:latin typeface="Arial"/>
              <a:ea typeface="Arial"/>
              <a:cs typeface="Arial"/>
              <a:sym typeface="Arial"/>
            </a:endParaRPr>
          </a:p>
        </p:txBody>
      </p:sp>
      <p:sp>
        <p:nvSpPr>
          <p:cNvPr id="153" name="Google Shape;153;p22"/>
          <p:cNvSpPr txBox="1"/>
          <p:nvPr>
            <p:ph idx="1" type="body"/>
          </p:nvPr>
        </p:nvSpPr>
        <p:spPr>
          <a:xfrm>
            <a:off x="132250" y="1175075"/>
            <a:ext cx="8367900" cy="31836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The performance of both ANN and CNN was good in image classification.</a:t>
            </a:r>
            <a:endParaRPr sz="20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CNN performed better than ANN because it has a greater ability to learn its features.</a:t>
            </a:r>
            <a:endParaRPr sz="20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The project showed high competence in using deep learning to recognise fashion images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132250" y="308600"/>
            <a:ext cx="8935200" cy="734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377">
                <a:latin typeface="Arial"/>
                <a:ea typeface="Arial"/>
                <a:cs typeface="Arial"/>
                <a:sym typeface="Arial"/>
              </a:rPr>
              <a:t>Future Work / Acknowledgments</a:t>
            </a:r>
            <a:endParaRPr b="1" i="1" sz="2155">
              <a:latin typeface="Arial"/>
              <a:ea typeface="Arial"/>
              <a:cs typeface="Arial"/>
              <a:sym typeface="Arial"/>
            </a:endParaRPr>
          </a:p>
        </p:txBody>
      </p:sp>
      <p:sp>
        <p:nvSpPr>
          <p:cNvPr id="159" name="Google Shape;159;p23"/>
          <p:cNvSpPr txBox="1"/>
          <p:nvPr>
            <p:ph idx="1" type="body"/>
          </p:nvPr>
        </p:nvSpPr>
        <p:spPr>
          <a:xfrm>
            <a:off x="132250" y="1175075"/>
            <a:ext cx="8185500" cy="20580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	Next steps involve the incorporation of data augmentation and hyperparameter optimisation (Sumera et al. 2022).</a:t>
            </a:r>
            <a:endParaRPr sz="22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	Developing more determined CNN structures.</a:t>
            </a:r>
            <a:endParaRPr sz="22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	Credits to the Fashion-MNIST dataset and open-source tools, such as PyTorch, to make the experimentation possible.</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448966" y="0"/>
            <a:ext cx="8246100" cy="1042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600">
                <a:latin typeface="Arial"/>
                <a:ea typeface="Arial"/>
                <a:cs typeface="Arial"/>
                <a:sym typeface="Arial"/>
              </a:rPr>
              <a:t>References</a:t>
            </a:r>
            <a:endParaRPr b="1" sz="2600">
              <a:latin typeface="Arial"/>
              <a:ea typeface="Arial"/>
              <a:cs typeface="Arial"/>
              <a:sym typeface="Arial"/>
            </a:endParaRPr>
          </a:p>
        </p:txBody>
      </p:sp>
      <p:sp>
        <p:nvSpPr>
          <p:cNvPr id="165" name="Google Shape;165;p24"/>
          <p:cNvSpPr txBox="1"/>
          <p:nvPr>
            <p:ph idx="1" type="body"/>
          </p:nvPr>
        </p:nvSpPr>
        <p:spPr>
          <a:xfrm>
            <a:off x="176350" y="1175050"/>
            <a:ext cx="8729100" cy="3689100"/>
          </a:xfrm>
          <a:prstGeom prst="rect">
            <a:avLst/>
          </a:prstGeom>
          <a:noFill/>
          <a:ln>
            <a:noFill/>
          </a:ln>
        </p:spPr>
        <p:txBody>
          <a:bodyPr anchorCtr="0" anchor="t" bIns="45700" lIns="91425" spcFirstLastPara="1" rIns="91425" wrap="square" tIns="45700">
            <a:noAutofit/>
          </a:bodyPr>
          <a:lstStyle/>
          <a:p>
            <a:pPr indent="-342900" lvl="0" marL="457200" rtl="0" algn="just">
              <a:lnSpc>
                <a:spcPct val="7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Bbouzidi, S., Hcini, G., Jdey, I. and Drira, F., 2024. Convolutional neural networks and vision transformers for fashion mnist classification: A literature review. arXiv preprint arXiv:2406.03478.</a:t>
            </a:r>
            <a:endParaRPr sz="1800">
              <a:solidFill>
                <a:schemeClr val="dk1"/>
              </a:solidFill>
              <a:latin typeface="Times New Roman"/>
              <a:ea typeface="Times New Roman"/>
              <a:cs typeface="Times New Roman"/>
              <a:sym typeface="Times New Roman"/>
            </a:endParaRPr>
          </a:p>
          <a:p>
            <a:pPr indent="-342900" lvl="0" marL="457200" rtl="0" algn="just">
              <a:lnSpc>
                <a:spcPct val="7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Nocentini, O., Kim, J., Bashir, M.Z. and Cavallo, F., 2022. Image classification using multiple convolutional neural networks on the fashion-MNIST dataset. Sensors, 22(23), p.9544.</a:t>
            </a:r>
            <a:endParaRPr sz="1800">
              <a:solidFill>
                <a:schemeClr val="dk1"/>
              </a:solidFill>
              <a:latin typeface="Times New Roman"/>
              <a:ea typeface="Times New Roman"/>
              <a:cs typeface="Times New Roman"/>
              <a:sym typeface="Times New Roman"/>
            </a:endParaRPr>
          </a:p>
          <a:p>
            <a:pPr indent="-342900" lvl="0" marL="457200" rtl="0" algn="just">
              <a:lnSpc>
                <a:spcPct val="7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Sumera, S.R., Anjum, N. and Vaidehi, K., 2022. Implementation of CNN and ANN for Fashion-MNIST-Dataset using Different Optimizers. Indian Journal of Science and Technology, 15(47), pp.2639-2645.</a:t>
            </a:r>
            <a:endParaRPr sz="1800">
              <a:solidFill>
                <a:schemeClr val="dk1"/>
              </a:solidFill>
              <a:latin typeface="Times New Roman"/>
              <a:ea typeface="Times New Roman"/>
              <a:cs typeface="Times New Roman"/>
              <a:sym typeface="Times New Roman"/>
            </a:endParaRPr>
          </a:p>
          <a:p>
            <a:pPr indent="-342900" lvl="0" marL="457200" rtl="0" algn="just">
              <a:lnSpc>
                <a:spcPct val="7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Xhaferra, E., Cina, E. and Toti, L., 2022, October. Classification of standard fashion MNIST dataset using deep learning based CNN algorithms. In 2022 international symposium on multidisciplinary studies and innovative technologies (ISMSIT) (pp. 494-498). IEEE.</a:t>
            </a:r>
            <a:endParaRPr sz="1800">
              <a:solidFill>
                <a:schemeClr val="dk1"/>
              </a:solidFill>
              <a:latin typeface="Times New Roman"/>
              <a:ea typeface="Times New Roman"/>
              <a:cs typeface="Times New Roman"/>
              <a:sym typeface="Times New Roman"/>
            </a:endParaRPr>
          </a:p>
          <a:p>
            <a:pPr indent="0" lvl="0" marL="0" rtl="0" algn="just">
              <a:lnSpc>
                <a:spcPct val="7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519991" y="2050350"/>
            <a:ext cx="8246100" cy="1042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990"/>
              <a:buFont typeface="Arial"/>
              <a:buNone/>
            </a:pPr>
            <a:r>
              <a:rPr b="1" lang="en-US" sz="3040">
                <a:latin typeface="Arial"/>
                <a:ea typeface="Arial"/>
                <a:cs typeface="Arial"/>
                <a:sym typeface="Arial"/>
              </a:rPr>
              <a:t>THANK YOU…</a:t>
            </a:r>
            <a:endParaRPr b="1" sz="304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